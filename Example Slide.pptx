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14747037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9" autoAdjust="0"/>
    <p:restoredTop sz="94660"/>
  </p:normalViewPr>
  <p:slideViewPr>
    <p:cSldViewPr snapToGrid="0">
      <p:cViewPr varScale="1">
        <p:scale>
          <a:sx n="56" d="100"/>
          <a:sy n="56" d="100"/>
        </p:scale>
        <p:origin x="28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D35B1-0FE3-35E9-865B-2A1CCB47A8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EE8164-5611-3C0D-F6C7-CF46F86B4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1DB7B-D3AE-EA04-1EA5-D6F8DC3A3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9C0C2-C486-447B-BD71-85221467BBF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8B5E0-0ECA-A3F5-40D7-D3DB5E388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ACAA8-6255-F257-E93F-35F0C3FFB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8A53-B083-473A-B4CE-425147882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6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5C681-BF2B-68F7-5399-7F222F573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4AB5D-5185-E949-67BE-78AA55D1C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6FDE1-9E3B-D51E-E7EC-950A8948D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9C0C2-C486-447B-BD71-85221467BBF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8EF58-B24B-7BAA-CE2D-A25A5BD60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1135E3-F38D-D77E-3E94-3822D7CDD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8A53-B083-473A-B4CE-425147882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877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EB81B-D8E3-8164-AF65-82A496E61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758F7E-F250-5FF6-D95A-0800C0957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5AA8B-3485-F154-FB28-AD4AA4BC9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9C0C2-C486-447B-BD71-85221467BBF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6CBC3-55B0-2D00-B8B3-2F6310D1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EF44AD-95FC-20EB-5EC6-E71B75C1A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8A53-B083-473A-B4CE-425147882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556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0FE39-2ACA-C10D-A89F-729662ECC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39E02-40A4-57C1-49CC-BFC6DAA6E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7188D-162C-62D5-0302-88240978D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33F086-68C6-705C-A248-07A8A1F50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9C0C2-C486-447B-BD71-85221467BBF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AAB23B-16E8-7FBE-11D7-6406A5A22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4F2BAA-72BD-8DF1-9674-64C4A54AB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8A53-B083-473A-B4CE-425147882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04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53283-EBC8-A87E-5A62-61B8961F9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5F77DC-D4D2-98A7-D576-0236C9A3E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B01E3C-CCDC-BC24-F7B3-8556240263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84D3B8-FF2F-684E-1018-1A192796DF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CCFB2B-C7E8-43E7-BFAE-BE2C910749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0E4C28-D557-9941-172F-D8029E511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9C0C2-C486-447B-BD71-85221467BBF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4A5047-BBD1-F264-FBE9-A624FF854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FD9717-0910-EB48-F6A3-7A4575627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8A53-B083-473A-B4CE-425147882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637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3DF48-4454-47CC-5CC2-A5BE4427C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849B4B-2697-4432-0ED6-554CDCCCF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9C0C2-C486-447B-BD71-85221467BBF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D10B38-9864-3FDB-CB4B-8FF903630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F92E66-2A14-66AD-4FA3-D3630D87C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8A53-B083-473A-B4CE-425147882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178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524902-FDA2-A87E-A2D9-406A038EB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9C0C2-C486-447B-BD71-85221467BBF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49CAC2-695D-6B0B-7AEB-4AA12780A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E6766-D965-4EC6-2266-A29C45189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8A53-B083-473A-B4CE-425147882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425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FB0CB-AD13-AF23-9D7D-F72AF4597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8C3B8-5285-1B59-D007-D890DE016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293E15-089E-B5FE-D699-7264F23DB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A2D5C3-DF4C-5C6A-DAE1-6ECAAF430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9C0C2-C486-447B-BD71-85221467BBF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5D632-3E69-C519-FE49-F8F70543C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8111B1-CD4B-C92B-8491-F400C40F4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8A53-B083-473A-B4CE-425147882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210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5AF06-E6F7-7734-77C8-6504D131B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5F196F-1E59-F0AC-0E3B-1BABB07A54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A9A6AA-23C6-EE12-9B01-662EAF4FAA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8E32F2-B23C-D960-F2AB-000D0B3F5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9C0C2-C486-447B-BD71-85221467BBF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1EB20E-170D-4302-186E-98B7CC27C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3C0954-D481-EC50-639A-B48630308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8A53-B083-473A-B4CE-425147882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323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83D57-8FB9-E7DA-1BC3-4543AA077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5A7106-00DA-049E-B6E5-1B4502F2C4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32FEF-8436-0ABE-A271-6B3DB6CD1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9C0C2-C486-447B-BD71-85221467BBF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5888D-7B3E-C9D0-DEAE-EFAD5917A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1F471A-4159-65EA-B21A-35DC93B60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8A53-B083-473A-B4CE-425147882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AC02B2-282A-74E5-B247-063ED3C40A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4E62E1-139D-8D32-5DD5-6A842EABEB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E14EB-ABD1-56EE-86C0-5918AFB6C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9C0C2-C486-447B-BD71-85221467BBF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D8133-29A1-E268-D62C-F970FA34C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1FA9A-C541-E1BE-E17D-F5726CBE1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8A53-B083-473A-B4CE-425147882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930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9691B-E836-8E48-ED8B-4E26F700B8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1080" y="541337"/>
            <a:ext cx="10515600" cy="647383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Title of Slide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538A68-1615-6A39-4B6A-72B55DC03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1080" y="6492875"/>
            <a:ext cx="8133080" cy="228600"/>
          </a:xfrm>
        </p:spPr>
        <p:txBody>
          <a:bodyPr/>
          <a:lstStyle>
            <a:lvl1pPr>
              <a:defRPr sz="900" i="1"/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Brady Burns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4A4C3B-0536-E23C-B43C-87D34229D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84E82AAC-F48B-43FF-93C1-4C4200EAED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76DD0AC-580E-F380-028F-500B4DED0A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8915" y="188912"/>
            <a:ext cx="375285" cy="27771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808DF5E-355E-04B0-C3F7-EAB825840F81}"/>
              </a:ext>
            </a:extLst>
          </p:cNvPr>
          <p:cNvSpPr/>
          <p:nvPr userDrawn="1"/>
        </p:nvSpPr>
        <p:spPr>
          <a:xfrm>
            <a:off x="0" y="6786880"/>
            <a:ext cx="12192000" cy="711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A3638EA4-9D9C-FF84-D9C2-5A84CE2B3A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1080" y="1838325"/>
            <a:ext cx="5176837" cy="39687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body text</a:t>
            </a:r>
          </a:p>
        </p:txBody>
      </p:sp>
    </p:spTree>
    <p:extLst>
      <p:ext uri="{BB962C8B-B14F-4D97-AF65-F5344CB8AC3E}">
        <p14:creationId xmlns:p14="http://schemas.microsoft.com/office/powerpoint/2010/main" val="316079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E6EBD9-602C-DCC5-27D7-D5A36EFF0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744B25-C616-3395-4AF4-564897274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DFF76-D7B2-5648-075B-B9FE05E411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49C0C2-C486-447B-BD71-85221467BBF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09CBF-F731-6D04-43F8-77F3FB3EC5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D714C-9518-AADE-55BC-8F48F184A0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518A53-B083-473A-B4CE-425147882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813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4CCC7-E942-38FF-ED03-FFF52D0C5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D42C216D-6E42-5865-5DC3-A6CAE2DCAAE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31" imgH="232" progId="TCLayout.ActiveDocument.1">
                  <p:embed/>
                </p:oleObj>
              </mc:Choice>
              <mc:Fallback>
                <p:oleObj name="think-cell Slide" r:id="rId3" imgW="231" imgH="232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42C216D-6E42-5865-5DC3-A6CAE2DCAA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EFCC36-B29F-B6D2-3821-650333B9F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82AAC-F48B-43FF-93C1-4C4200EAED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364DFD-EB74-7E53-1C16-CC8E6A13FF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4589" y="1357051"/>
            <a:ext cx="6445246" cy="5086812"/>
          </a:xfrm>
        </p:spPr>
        <p:txBody>
          <a:bodyPr>
            <a:normAutofit fontScale="92500" lnSpcReduction="20000"/>
          </a:bodyPr>
          <a:lstStyle/>
          <a:p>
            <a:r>
              <a:rPr lang="en-US" sz="2000" b="1" dirty="0"/>
              <a:t>SPECIFICATIONS &amp; PROTOCOL:</a:t>
            </a:r>
          </a:p>
          <a:p>
            <a:r>
              <a:rPr lang="en-US" sz="1900" b="1" dirty="0"/>
              <a:t>1. Cell &amp; Electrode Metadata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Cathode: </a:t>
            </a:r>
            <a:r>
              <a:rPr lang="en-US" sz="1600"/>
              <a:t>NMC811(BASF):</a:t>
            </a:r>
            <a:r>
              <a:rPr lang="en-US" sz="1600" dirty="0" err="1"/>
              <a:t>PVDF:Hx-e</a:t>
            </a:r>
            <a:r>
              <a:rPr lang="en-US" sz="1600" dirty="0"/>
              <a:t>(HCl-AW)| 94:3:3</a:t>
            </a:r>
          </a:p>
          <a:p>
            <a:pPr marL="971550" lvl="1" indent="-285750"/>
            <a:r>
              <a:rPr lang="en-US" sz="1600" b="1" dirty="0">
                <a:solidFill>
                  <a:schemeClr val="tx1"/>
                </a:solidFill>
              </a:rPr>
              <a:t>Loading: </a:t>
            </a:r>
            <a:r>
              <a:rPr lang="en-US" sz="1600" dirty="0">
                <a:solidFill>
                  <a:schemeClr val="tx1"/>
                </a:solidFill>
              </a:rPr>
              <a:t>7.61mg/cm</a:t>
            </a:r>
            <a:r>
              <a:rPr lang="en-US" sz="1600" baseline="30000" dirty="0">
                <a:solidFill>
                  <a:schemeClr val="tx1"/>
                </a:solidFill>
              </a:rPr>
              <a:t>2 </a:t>
            </a:r>
            <a:r>
              <a:rPr lang="en-US" sz="1600" dirty="0">
                <a:solidFill>
                  <a:schemeClr val="tx1"/>
                </a:solidFill>
              </a:rPr>
              <a:t> (total); </a:t>
            </a:r>
            <a:r>
              <a:rPr 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49µm thick</a:t>
            </a:r>
          </a:p>
          <a:p>
            <a:pPr marL="971550" lvl="1" indent="-285750"/>
            <a:r>
              <a:rPr lang="en-US" sz="1600" b="1" dirty="0">
                <a:solidFill>
                  <a:schemeClr val="tx1"/>
                </a:solidFill>
              </a:rPr>
              <a:t>Current Collector: </a:t>
            </a:r>
            <a:r>
              <a:rPr lang="en-US" sz="1600" dirty="0">
                <a:solidFill>
                  <a:schemeClr val="tx1"/>
                </a:solidFill>
              </a:rPr>
              <a:t>Al</a:t>
            </a:r>
            <a:r>
              <a:rPr lang="en-US" sz="20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Electrolyte: </a:t>
            </a:r>
            <a:r>
              <a:rPr lang="en-US" sz="1600" dirty="0"/>
              <a:t>1M LiPF</a:t>
            </a:r>
            <a:r>
              <a:rPr lang="en-US" sz="1600" baseline="-25000" dirty="0"/>
              <a:t>6 </a:t>
            </a:r>
            <a:r>
              <a:rPr lang="en-US" sz="1600" baseline="30000" dirty="0"/>
              <a:t> </a:t>
            </a:r>
            <a:r>
              <a:rPr lang="en-US" sz="1600" dirty="0"/>
              <a:t> 1:1:1, 5% FEC, 2% VC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E/C Ratio: </a:t>
            </a:r>
            <a:r>
              <a:rPr lang="en-US" sz="1600" dirty="0">
                <a:solidFill>
                  <a:schemeClr val="tx1"/>
                </a:solidFill>
              </a:rPr>
              <a:t>60µL total (</a:t>
            </a:r>
            <a:r>
              <a:rPr lang="en-US" sz="1600" dirty="0"/>
              <a:t>4.41</a:t>
            </a:r>
            <a:r>
              <a:rPr lang="en-US" sz="1600" dirty="0">
                <a:solidFill>
                  <a:schemeClr val="tx1"/>
                </a:solidFill>
              </a:rPr>
              <a:t>µL/</a:t>
            </a:r>
            <a:r>
              <a:rPr lang="en-US" sz="1600" dirty="0" err="1">
                <a:solidFill>
                  <a:schemeClr val="tx1"/>
                </a:solidFill>
              </a:rPr>
              <a:t>mg</a:t>
            </a:r>
            <a:r>
              <a:rPr lang="en-US" sz="1600" baseline="-25000" dirty="0" err="1">
                <a:solidFill>
                  <a:schemeClr val="tx1"/>
                </a:solidFill>
              </a:rPr>
              <a:t>active</a:t>
            </a:r>
            <a:r>
              <a:rPr lang="en-US" sz="1600" dirty="0">
                <a:solidFill>
                  <a:schemeClr val="tx1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Separator: </a:t>
            </a:r>
            <a:r>
              <a:rPr lang="en-US" sz="1600" dirty="0"/>
              <a:t>CC, 2+12+2µm</a:t>
            </a:r>
          </a:p>
          <a:p>
            <a:endParaRPr lang="en-US" sz="1600" b="1" dirty="0"/>
          </a:p>
          <a:p>
            <a:r>
              <a:rPr lang="en-US" sz="1900" b="1" dirty="0"/>
              <a:t>2. Testing Protocol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Voltage Window: </a:t>
            </a:r>
            <a:r>
              <a:rPr lang="en-US" sz="1600" dirty="0"/>
              <a:t>3.0-</a:t>
            </a:r>
            <a:r>
              <a:rPr lang="en-US" sz="1600" dirty="0">
                <a:highlight>
                  <a:srgbClr val="FFFF00"/>
                </a:highlight>
              </a:rPr>
              <a:t>4.2</a:t>
            </a:r>
            <a:r>
              <a:rPr lang="en-US" sz="1600" dirty="0"/>
              <a:t>V vs. Li/Li</a:t>
            </a:r>
            <a:r>
              <a:rPr lang="en-US" sz="1600" baseline="30000" dirty="0"/>
              <a:t>+</a:t>
            </a:r>
            <a:r>
              <a:rPr lang="en-US" sz="16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Formation: </a:t>
            </a:r>
            <a:r>
              <a:rPr lang="en-US" sz="1600" dirty="0"/>
              <a:t>3 cycles @ C/20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Cycling Rate: </a:t>
            </a:r>
            <a:r>
              <a:rPr lang="en-US" sz="1600" dirty="0"/>
              <a:t>C/8 Charge (CC-CV), C/8 Discharge (CC)</a:t>
            </a:r>
          </a:p>
          <a:p>
            <a:r>
              <a:rPr lang="en-US" sz="1900" b="1" dirty="0"/>
              <a:t>3. Conclusion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Active material successfully increased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Capacity could be pushed with higher cutoff voltages, assuming anode compatibility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Continue testing in full cells with leading anodes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A6A8E9B-FBFC-BFA3-64A0-02D3C9CF9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588" y="278078"/>
            <a:ext cx="11470485" cy="847265"/>
          </a:xfrm>
        </p:spPr>
        <p:txBody>
          <a:bodyPr>
            <a:noAutofit/>
          </a:bodyPr>
          <a:lstStyle/>
          <a:p>
            <a:r>
              <a:rPr lang="en-US" sz="2600" b="1" dirty="0"/>
              <a:t>Project: </a:t>
            </a:r>
            <a:r>
              <a:rPr lang="en-US" sz="2600" dirty="0"/>
              <a:t>NMC Cathode – </a:t>
            </a:r>
            <a:r>
              <a:rPr lang="en-US" sz="2600" b="1" dirty="0"/>
              <a:t>EXP ID: </a:t>
            </a:r>
            <a:r>
              <a:rPr lang="en-US" sz="2600" dirty="0"/>
              <a:t>N12b</a:t>
            </a:r>
            <a:br>
              <a:rPr lang="en-US" sz="2600" dirty="0"/>
            </a:br>
            <a:r>
              <a:rPr lang="en-US" sz="2600" b="1" dirty="0"/>
              <a:t>CHEMISTRY: </a:t>
            </a:r>
            <a:r>
              <a:rPr lang="en-US" sz="2600" dirty="0"/>
              <a:t>NMC811(Half) | </a:t>
            </a:r>
            <a:r>
              <a:rPr lang="en-US" sz="2600" b="1" dirty="0"/>
              <a:t>KEY VARIABLES: </a:t>
            </a:r>
            <a:r>
              <a:rPr lang="en-US" sz="2600" dirty="0"/>
              <a:t>NMC, EL, Loading</a:t>
            </a:r>
            <a:endParaRPr lang="en-US" sz="2600" b="1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B68618F-DFD5-D5A5-0F21-5F337B32333A}"/>
              </a:ext>
            </a:extLst>
          </p:cNvPr>
          <p:cNvSpPr txBox="1">
            <a:spLocks/>
          </p:cNvSpPr>
          <p:nvPr/>
        </p:nvSpPr>
        <p:spPr>
          <a:xfrm>
            <a:off x="7272157" y="1357051"/>
            <a:ext cx="5420085" cy="50868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</a:pPr>
            <a:r>
              <a:rPr lang="en-US" sz="2000" b="1" dirty="0"/>
              <a:t>KEY RESULTS</a:t>
            </a:r>
          </a:p>
          <a:p>
            <a:pPr>
              <a:buClrTx/>
            </a:pPr>
            <a:endParaRPr lang="en-US" dirty="0"/>
          </a:p>
          <a:p>
            <a:pPr>
              <a:buClrTx/>
            </a:pP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CF0A66-BB1F-7231-ECEC-857263DF0A5F}"/>
              </a:ext>
            </a:extLst>
          </p:cNvPr>
          <p:cNvCxnSpPr/>
          <p:nvPr/>
        </p:nvCxnSpPr>
        <p:spPr>
          <a:xfrm>
            <a:off x="7097228" y="1357051"/>
            <a:ext cx="0" cy="518186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56C89BA-C9BE-D283-B3F9-59266AE9AC31}"/>
              </a:ext>
            </a:extLst>
          </p:cNvPr>
          <p:cNvGraphicFramePr>
            <a:graphicFrameLocks noGrp="1"/>
          </p:cNvGraphicFramePr>
          <p:nvPr/>
        </p:nvGraphicFramePr>
        <p:xfrm>
          <a:off x="7371472" y="4849999"/>
          <a:ext cx="4673601" cy="16589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72503">
                  <a:extLst>
                    <a:ext uri="{9D8B030D-6E8A-4147-A177-3AD203B41FA5}">
                      <a16:colId xmlns:a16="http://schemas.microsoft.com/office/drawing/2014/main" val="3647798271"/>
                    </a:ext>
                  </a:extLst>
                </a:gridCol>
                <a:gridCol w="870516">
                  <a:extLst>
                    <a:ext uri="{9D8B030D-6E8A-4147-A177-3AD203B41FA5}">
                      <a16:colId xmlns:a16="http://schemas.microsoft.com/office/drawing/2014/main" val="3125292687"/>
                    </a:ext>
                  </a:extLst>
                </a:gridCol>
                <a:gridCol w="1748859">
                  <a:extLst>
                    <a:ext uri="{9D8B030D-6E8A-4147-A177-3AD203B41FA5}">
                      <a16:colId xmlns:a16="http://schemas.microsoft.com/office/drawing/2014/main" val="613464087"/>
                    </a:ext>
                  </a:extLst>
                </a:gridCol>
                <a:gridCol w="481723">
                  <a:extLst>
                    <a:ext uri="{9D8B030D-6E8A-4147-A177-3AD203B41FA5}">
                      <a16:colId xmlns:a16="http://schemas.microsoft.com/office/drawing/2014/main" val="4112841619"/>
                    </a:ext>
                  </a:extLst>
                </a:gridCol>
              </a:tblGrid>
              <a:tr h="1798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solidFill>
                            <a:schemeClr val="bg1"/>
                          </a:solidFill>
                          <a:effectLst/>
                        </a:rPr>
                        <a:t>Metric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Benchmark</a:t>
                      </a:r>
                    </a:p>
                  </a:txBody>
                  <a:tcPr marL="6350" marR="6350" marT="635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solidFill>
                            <a:schemeClr val="bg1"/>
                          </a:solidFill>
                          <a:effectLst/>
                        </a:rPr>
                        <a:t>Value 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Score</a:t>
                      </a:r>
                    </a:p>
                  </a:txBody>
                  <a:tcPr marL="6350" marR="6350" marT="635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052003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1st Discharge Cap. (</a:t>
                      </a:r>
                      <a:r>
                        <a:rPr lang="en-US" sz="1100" u="none" strike="noStrike" dirty="0" err="1">
                          <a:effectLst/>
                        </a:rPr>
                        <a:t>mAh</a:t>
                      </a:r>
                      <a:r>
                        <a:rPr lang="en-US" sz="1100" u="none" strike="noStrike" dirty="0">
                          <a:effectLst/>
                        </a:rPr>
                        <a:t>/g)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&gt;200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201.3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146427714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Reversible Capacity (</a:t>
                      </a:r>
                      <a:r>
                        <a:rPr lang="en-US" sz="1100" u="none" strike="noStrike" dirty="0" err="1">
                          <a:effectLst/>
                        </a:rPr>
                        <a:t>mAh</a:t>
                      </a:r>
                      <a:r>
                        <a:rPr lang="en-US" sz="1100" u="none" strike="noStrike" dirty="0">
                          <a:effectLst/>
                        </a:rPr>
                        <a:t>/g)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&gt;180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191.4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335313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Areal Cap. (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mAh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/cm</a:t>
                      </a:r>
                      <a:r>
                        <a:rPr lang="en-US" sz="11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  <a:r>
                        <a:rPr lang="en-US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N/A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1.45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7995577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FCE (%)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&gt;95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90.14%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3547739"/>
                  </a:ext>
                </a:extLst>
              </a:tr>
              <a:tr h="205261"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Capacity Retention(%)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&gt;95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98.3% @ Cyc 20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932357704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marL="0" lvl="0" algn="ctr" defTabSz="914400" rtl="0" eaLnBrk="1" fontAlgn="b" latinLnBrk="0" hangingPunct="1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Avg. Post-Form. CE (%)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fontAlgn="b" latinLnBrk="0" hangingPunct="1">
                        <a:buNone/>
                      </a:pPr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&gt;99.9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fontAlgn="b" latinLnBrk="0" hangingPunct="1">
                        <a:buNone/>
                      </a:pPr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99.933%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fontAlgn="b" latinLnBrk="0" hangingPunct="1">
                        <a:buNone/>
                      </a:pPr>
                      <a:endParaRPr 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253532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C74B17FF-45B7-30FD-A866-0D566FDD7B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84086" y="5099875"/>
            <a:ext cx="158510" cy="15241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6A45E87-AB3C-C3AA-2582-795A64C8E4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84086" y="5458320"/>
            <a:ext cx="158510" cy="152413"/>
          </a:xfrm>
          <a:prstGeom prst="rect">
            <a:avLst/>
          </a:prstGeom>
        </p:spPr>
      </p:pic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1F26A02D-2C60-AE70-1E35-EBC6924DA1F7}"/>
              </a:ext>
            </a:extLst>
          </p:cNvPr>
          <p:cNvSpPr/>
          <p:nvPr/>
        </p:nvSpPr>
        <p:spPr>
          <a:xfrm>
            <a:off x="11705436" y="6356353"/>
            <a:ext cx="137160" cy="137160"/>
          </a:xfrm>
          <a:prstGeom prst="flowChartConnector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ECECCE98-7A00-89B5-B824-559CA1368884}"/>
              </a:ext>
            </a:extLst>
          </p:cNvPr>
          <p:cNvSpPr/>
          <p:nvPr/>
        </p:nvSpPr>
        <p:spPr>
          <a:xfrm>
            <a:off x="11705436" y="5944500"/>
            <a:ext cx="137160" cy="137160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E9263FAA-A9CB-E614-52FE-B0286D3D2985}"/>
              </a:ext>
            </a:extLst>
          </p:cNvPr>
          <p:cNvSpPr/>
          <p:nvPr/>
        </p:nvSpPr>
        <p:spPr>
          <a:xfrm>
            <a:off x="11705436" y="6136942"/>
            <a:ext cx="137160" cy="137160"/>
          </a:xfrm>
          <a:prstGeom prst="flowChartConnector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FFCDC-9F56-F800-3F48-178F17266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Brady Burns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38904E-CFAF-ED98-7867-AA001587F72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2002"/>
          <a:stretch>
            <a:fillRect/>
          </a:stretch>
        </p:blipFill>
        <p:spPr>
          <a:xfrm>
            <a:off x="7600669" y="1757482"/>
            <a:ext cx="4215205" cy="2988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02041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228</Words>
  <Application>Microsoft Office PowerPoint</Application>
  <PresentationFormat>Widescreen</PresentationFormat>
  <Paragraphs>43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Aptos Narrow</vt:lpstr>
      <vt:lpstr>Arial</vt:lpstr>
      <vt:lpstr>Office Theme</vt:lpstr>
      <vt:lpstr>think-cell Slide</vt:lpstr>
      <vt:lpstr>Project: NMC Cathode – EXP ID: N12b CHEMISTRY: NMC811(Half) | KEY VARIABLES: NMC, EL, Loading</vt:lpstr>
    </vt:vector>
  </TitlesOfParts>
  <Company>Nabors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Burns, Brady</dc:creator>
  <cp:lastModifiedBy>Burns, Brady</cp:lastModifiedBy>
  <cp:revision>1</cp:revision>
  <dcterms:created xsi:type="dcterms:W3CDTF">2026-02-20T04:37:43Z</dcterms:created>
  <dcterms:modified xsi:type="dcterms:W3CDTF">2026-02-20T04:38:54Z</dcterms:modified>
</cp:coreProperties>
</file>