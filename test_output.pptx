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73152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latin typeface="Times New Roman"/>
              </a:defRPr>
            </a:pPr>
            <a:r>
              <a:t>Project: NMC Cathode – EXP ID: N12b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latin typeface="Times New Roman"/>
              </a:defRPr>
            </a:pPr>
            <a:r>
              <a:t>CHEMISTRY: NMC811(Half) | KEY VARIABLES: Custom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097280"/>
            <a:ext cx="0" cy="53035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288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latin typeface="Times New Roman"/>
              </a:defRPr>
            </a:pPr>
            <a:r>
              <a:t>SPECIFICATIONS &amp; PROTOCOL: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46304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1. Cell &amp; Electrode Metadata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Cathode: </a:t>
            </a:r>
            <a:r>
              <a:rPr b="0"/>
              <a:t>NMC811(BASF) (94%) | PVDF (3%) | Super P (3%)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Loading: </a:t>
            </a:r>
            <a:r>
              <a:rPr b="0"/>
              <a:t>7.61 mg/cm²; 49 µm thick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Current Collector: </a:t>
            </a:r>
            <a:r>
              <a:rPr b="0"/>
              <a:t>Al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Electrolyte: </a:t>
            </a:r>
            <a:r>
              <a:rPr b="0"/>
              <a:t>1M LiPF6 1:1:1, 5% FEC, 2% VC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E/C Ratio: </a:t>
            </a:r>
            <a:r>
              <a:rPr b="0"/>
              <a:t>Not recorded in DB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Separator: </a:t>
            </a:r>
            <a:r>
              <a:rPr b="0"/>
              <a:t>CC, 2+12+2µm</a:t>
            </a:r>
          </a:p>
          <a:p/>
          <a:p>
            <a:pPr>
              <a:defRPr sz="1400" b="1">
                <a:latin typeface="Times New Roman"/>
              </a:defRPr>
            </a:pPr>
            <a:r>
              <a:t>2. Testing Protocol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Voltage Window: </a:t>
            </a:r>
            <a:r>
              <a:rPr b="0"/>
              <a:t>3.0-4.2V vs. Li/Li+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Formation: </a:t>
            </a:r>
            <a:r>
              <a:rPr b="0"/>
              <a:t>3 cycles</a:t>
            </a:r>
          </a:p>
          <a:p>
            <a:pPr lvl="1">
              <a:defRPr sz="1200">
                <a:latin typeface="Times New Roman"/>
              </a:defRPr>
            </a:pPr>
            <a:r>
              <a:rPr b="1"/>
              <a:t>Cycling Rate: </a:t>
            </a:r>
            <a:r>
              <a:rPr b="0"/>
              <a:t>Not recorded in DB</a:t>
            </a:r>
          </a:p>
          <a:p/>
          <a:p>
            <a:pPr>
              <a:defRPr sz="1400" b="1">
                <a:latin typeface="Times New Roman"/>
              </a:defRPr>
            </a:pPr>
            <a:r>
              <a:t>3. Conclusion</a:t>
            </a:r>
          </a:p>
          <a:p>
            <a:pPr lvl="1">
              <a:defRPr sz="1200">
                <a:latin typeface="Times New Roman"/>
              </a:defRPr>
            </a:pPr>
            <a:r>
              <a:t>Active material successfully increased.</a:t>
            </a:r>
          </a:p>
          <a:p>
            <a:pPr lvl="1">
              <a:defRPr sz="1200">
                <a:latin typeface="Times New Roman"/>
              </a:defRPr>
            </a:pPr>
            <a:r>
              <a:t>Capacity could be pushed with higher cutoff voltages.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latin typeface="Times New Roman"/>
              </a:defRPr>
            </a:pPr>
            <a:r>
              <a:t>KEY RESULTS</a:t>
            </a:r>
          </a:p>
        </p:txBody>
      </p:sp>
      <p:pic>
        <p:nvPicPr>
          <p:cNvPr id="9" name="Picture 8" descr="tmpa9co3r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54480"/>
            <a:ext cx="4206240" cy="29260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0" y="457200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264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anchor="ctr">
                    <a:solidFill>
                      <a:srgbClr val="264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264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anchor="ctr">
                    <a:solidFill>
                      <a:srgbClr val="264D6B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1st Discharge Cap. (mAh/g)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&gt;200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201.3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Reversible Capacity (mAh/g)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&gt;180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191.4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Areal Cap. (mAh/cm2)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1.53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FCE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&gt;95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90.1%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</a:p>
                  </a:txBody>
                  <a:tcPr anchor="ctr"/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Capacity Retention(%)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&gt;80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20 cycles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Avg. Post-Form. CE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&gt;99.9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  <a:r>
                        <a:rPr sz="1100">
                          <a:latin typeface="Calibri"/>
                        </a:rPr>
                        <a:t>99.9%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Times New Roman"/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